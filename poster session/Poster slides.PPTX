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20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04B31-A6BE-27BF-3A79-FB1C00F02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4D375-6730-3FF2-7897-85AAF93F5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55614-B125-2780-FCFB-05D895935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ED5-44AC-42C7-A7E4-711618C2FA5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00E98-C7F6-CBDE-CEF7-E1BAE72F6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1763C-97F0-A039-563F-4418A9AE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235B1-5ED6-47EC-ADB3-44BB3239B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0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425D-6E19-180D-7CD7-29561A00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99287-2BBA-6067-77F2-285DE8BF6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91C2D-A1DF-E916-F358-B67E7B31F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ED5-44AC-42C7-A7E4-711618C2FA5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A51AE-E5DD-2B40-47C7-53B374728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4C916-FEF5-2804-77F6-1CEE303B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235B1-5ED6-47EC-ADB3-44BB3239B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3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16F32-7E38-2C11-980A-C8A2EF33F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1C2D9-606C-5CC8-683D-0DF59B077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FA2DD-74E9-277A-7620-6C852564A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ED5-44AC-42C7-A7E4-711618C2FA5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EFC4A-B8C0-970E-AB96-53FF3119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A6D71-5669-335C-F0CB-3B829A30E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235B1-5ED6-47EC-ADB3-44BB3239B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8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430F-C282-85D2-A1CC-DF9C0D2DE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5955-EDA8-FC47-3E84-ABC9369BA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F8A1F-A7FA-A9C4-D0A2-53F711DE7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2064B-3C91-054D-A09D-95A5DEED7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ED5-44AC-42C7-A7E4-711618C2FA5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0F8FF-FD0C-8210-CC0F-1E8AF25FB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A4617-0611-BE5A-C2E3-3D4D58B7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235B1-5ED6-47EC-ADB3-44BB3239B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5FA53-AA7C-11C4-7A64-B046E54F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AE95A-3AD9-48E6-BF8A-BA681E719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82210-7F92-DD95-8DB2-A6525B508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36D7D-8BF0-3638-668C-287CDFFAA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13FD2F-3AAC-63F3-B10C-AAEB2DCD87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8FE3C9-C05C-7910-9802-26380B80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ED5-44AC-42C7-A7E4-711618C2FA5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F0B209-B839-BB33-F8E1-6074A1A8D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A351B4-903A-0135-F05E-5F7CFBB0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235B1-5ED6-47EC-ADB3-44BB3239B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4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EF64D-6707-ED97-65CA-68869A5B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748461-3483-F91C-B165-E1E0FAFB8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ED5-44AC-42C7-A7E4-711618C2FA5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F71DAA-6F87-2C42-6051-40E61A9E4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A3291-5C4A-1AE0-4C8A-4461DCB8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235B1-5ED6-47EC-ADB3-44BB3239B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6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80E81-70B6-F9DD-6511-FFAE0443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ED5-44AC-42C7-A7E4-711618C2FA5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87F5F-1BED-619E-C924-BA0227EF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EBA17-05AC-B518-99EB-25B71866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235B1-5ED6-47EC-ADB3-44BB3239B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9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747AF-F989-ABCB-6087-1CE5835F4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CE09D-3147-6D82-69C4-FB0989ADD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0CC48-855D-436C-49EE-713DC5B07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596A8-ECFA-99CE-4A08-83C071EC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ED5-44AC-42C7-A7E4-711618C2FA5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D837B-87EF-831D-2320-03EFCCB4F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2E57F-914E-DD01-E246-FE5C58E10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235B1-5ED6-47EC-ADB3-44BB3239B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64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AD8F-D57D-B284-F048-235D901E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B8E120-96F2-53F8-2DCD-87453A0CCF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C42BC-C80B-3ABE-A67C-3C43E958E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4659D-A9E7-EBE8-B143-324FA87C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ED5-44AC-42C7-A7E4-711618C2FA5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A540A-6FFD-AC85-F892-D0507885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F286D-F2AD-BE1B-5274-BEB348F6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235B1-5ED6-47EC-ADB3-44BB3239B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40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C875-5B88-D233-4C7E-824DC9245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A5DF8-02A7-B587-D0A7-A5D5AF96D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C1B20-7C14-EB9C-DE15-B43D47485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ED5-44AC-42C7-A7E4-711618C2FA5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E1691-3962-9BA8-14F3-CD7E20C1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2E380-3EF1-4A53-6900-F4B438A6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235B1-5ED6-47EC-ADB3-44BB3239B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36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09D95D-223C-43BD-AFC4-C8C7EAB25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433A9-0591-9340-1A32-25ED83964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AA304-486C-DB1A-D5BA-F84710C2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ED5-44AC-42C7-A7E4-711618C2FA5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FCD14-CB97-B27D-D1C9-A634D289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85F2-AB80-A0DE-56A2-57708EDC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235B1-5ED6-47EC-ADB3-44BB3239B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31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BB408-8F9E-16D2-3E1B-BECC07589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EB3F2-EF25-1575-8FA4-AE5FAA1F0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E897E-59A7-B12C-8CF6-3564F2704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5AED5-44AC-42C7-A7E4-711618C2FA5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04700-C280-EB19-860F-28635BF2F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DE6D4-F599-7E05-0A1F-98BD2B0B2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235B1-5ED6-47EC-ADB3-44BB3239B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B4B68-CCAD-CD26-908D-72C8A4C7DF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Heuristics in RL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FA5E3-C4F4-542F-D7B2-8D0565E3CA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Bennett Brain</a:t>
            </a:r>
          </a:p>
        </p:txBody>
      </p:sp>
    </p:spTree>
    <p:extLst>
      <p:ext uri="{BB962C8B-B14F-4D97-AF65-F5344CB8AC3E}">
        <p14:creationId xmlns:p14="http://schemas.microsoft.com/office/powerpoint/2010/main" val="4029728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E3DD8-FD62-AB9D-F66E-9C8EF975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Concept: apply “advice” to RL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269C9-B891-7762-D29F-803B31D91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RL agents explore blindly at first, with no world information</a:t>
            </a:r>
          </a:p>
          <a:p>
            <a:r>
              <a:rPr lang="en-US" dirty="0"/>
              <a:t>What if we could give them “tips”, derived from basic understanding of the environment?</a:t>
            </a:r>
          </a:p>
          <a:p>
            <a:pPr lvl="1"/>
            <a:r>
              <a:rPr lang="en-US" dirty="0"/>
              <a:t>I.E. in four-rooms; “move up and right”</a:t>
            </a:r>
          </a:p>
          <a:p>
            <a:r>
              <a:rPr lang="en-US" dirty="0"/>
              <a:t>Agent should still explore and determine its own optimal policy eventually</a:t>
            </a:r>
          </a:p>
          <a:p>
            <a:r>
              <a:rPr lang="en-US" dirty="0"/>
              <a:t>Hypothesis: good “tips” will help agents learn faster but possibly result in same long-term results, especially in more difficult domains</a:t>
            </a:r>
          </a:p>
        </p:txBody>
      </p:sp>
    </p:spTree>
    <p:extLst>
      <p:ext uri="{BB962C8B-B14F-4D97-AF65-F5344CB8AC3E}">
        <p14:creationId xmlns:p14="http://schemas.microsoft.com/office/powerpoint/2010/main" val="298183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B50DC-9C81-68A5-5B2C-E836FEDEC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– heuristic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F2EF6-EA66-70B6-DD59-292C0C676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80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Encode “heuristic” policy derived from tips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heuristic just has a 50/50 shot of moving “up” or “right” in four rooms (the helper function just moves in X or Y towards the goal until x = </a:t>
            </a:r>
            <a:r>
              <a:rPr lang="en-US" dirty="0" err="1"/>
              <a:t>goal_x</a:t>
            </a:r>
            <a:r>
              <a:rPr lang="en-US" dirty="0"/>
              <a:t> and y = </a:t>
            </a:r>
            <a:r>
              <a:rPr lang="en-US" dirty="0" err="1"/>
              <a:t>goal_y</a:t>
            </a:r>
            <a:r>
              <a:rPr lang="en-US" dirty="0"/>
              <a:t>)</a:t>
            </a:r>
          </a:p>
          <a:p>
            <a:r>
              <a:rPr lang="en-US" dirty="0"/>
              <a:t>As a policy, it would not solve the environment on its own</a:t>
            </a:r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7614CF34-8C46-8D6E-4E63-63EF50FC0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825" y="2536319"/>
            <a:ext cx="8906924" cy="17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21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0D7E-BD6E-7899-3AD7-12EDE43DD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Methods- following the heuristic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FEAEA-377D-3266-FB25-32D9B4570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to determine when to use the heuristic vs explore vs use the agent’s own knowledge?</a:t>
            </a:r>
          </a:p>
          <a:p>
            <a:r>
              <a:rPr lang="en-US" dirty="0"/>
              <a:t>Use heuristic more early</a:t>
            </a:r>
          </a:p>
          <a:p>
            <a:r>
              <a:rPr lang="en-US" dirty="0"/>
              <a:t>Use learned knowledge </a:t>
            </a:r>
            <a:br>
              <a:rPr lang="en-US" dirty="0"/>
            </a:br>
            <a:r>
              <a:rPr lang="en-US" dirty="0"/>
              <a:t>later</a:t>
            </a:r>
          </a:p>
          <a:p>
            <a:r>
              <a:rPr lang="en-US" dirty="0"/>
              <a:t>Epsilon scheduling!</a:t>
            </a:r>
          </a:p>
          <a:p>
            <a:r>
              <a:rPr lang="en-US" dirty="0"/>
              <a:t>Generate e1 and e2</a:t>
            </a:r>
          </a:p>
          <a:p>
            <a:pPr lvl="1"/>
            <a:r>
              <a:rPr lang="en-US" dirty="0"/>
              <a:t>r &lt; e1, follow heuristic</a:t>
            </a:r>
          </a:p>
          <a:p>
            <a:pPr lvl="1"/>
            <a:r>
              <a:rPr lang="en-US" dirty="0"/>
              <a:t>e1 &lt; r &lt; e2, explore</a:t>
            </a:r>
          </a:p>
          <a:p>
            <a:pPr lvl="1"/>
            <a:r>
              <a:rPr lang="en-US" dirty="0"/>
              <a:t>e2 &lt; r, follow greedy</a:t>
            </a:r>
          </a:p>
          <a:p>
            <a:endParaRPr lang="en-US" dirty="0"/>
          </a:p>
        </p:txBody>
      </p:sp>
      <p:pic>
        <p:nvPicPr>
          <p:cNvPr id="4" name="Picture 3" descr="A graph showing a number of times&#10;&#10;Description automatically generated">
            <a:extLst>
              <a:ext uri="{FF2B5EF4-FFF2-40B4-BE49-F238E27FC236}">
                <a16:creationId xmlns:a16="http://schemas.microsoft.com/office/drawing/2014/main" id="{A01AA428-721E-A4D6-C655-66EFD7F27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169" y="2405053"/>
            <a:ext cx="7111288" cy="319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8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3692D-B25E-3024-E2D7-DAD4A100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Methods- Adversarial 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EC69C-A90A-91EA-8195-2CDFC0F9E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would happen if we applied “bad” advice?</a:t>
            </a:r>
          </a:p>
          <a:p>
            <a:pPr lvl="1"/>
            <a:r>
              <a:rPr lang="en-US" dirty="0"/>
              <a:t>We should expect training to take longer and the final results to potentially be worse</a:t>
            </a:r>
          </a:p>
          <a:p>
            <a:pPr lvl="1"/>
            <a:r>
              <a:rPr lang="en-US" dirty="0"/>
              <a:t>This can be implemented as easily as good advice- just make the “heuristic” bad</a:t>
            </a:r>
          </a:p>
        </p:txBody>
      </p:sp>
    </p:spTree>
    <p:extLst>
      <p:ext uri="{BB962C8B-B14F-4D97-AF65-F5344CB8AC3E}">
        <p14:creationId xmlns:p14="http://schemas.microsoft.com/office/powerpoint/2010/main" val="1170191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A5DAF-5BCB-6456-93CF-FF6A0494F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Windy </a:t>
            </a:r>
            <a:r>
              <a:rPr lang="en-US" dirty="0" err="1"/>
              <a:t>Gridworld</a:t>
            </a:r>
            <a:r>
              <a:rPr lang="en-US" dirty="0"/>
              <a:t>: Domain</a:t>
            </a:r>
          </a:p>
        </p:txBody>
      </p:sp>
      <p:pic>
        <p:nvPicPr>
          <p:cNvPr id="5" name="Content Placeholder 4" descr="A grid with arrows and letters&#10;&#10;Description automatically generated">
            <a:extLst>
              <a:ext uri="{FF2B5EF4-FFF2-40B4-BE49-F238E27FC236}">
                <a16:creationId xmlns:a16="http://schemas.microsoft.com/office/drawing/2014/main" id="{B2F46253-6ECA-49F9-DFD8-3F2A70B60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784" y="1690688"/>
            <a:ext cx="5905500" cy="4067175"/>
          </a:xfr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E8FC03-C76F-643D-0F02-2D72D1A12D7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3931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Path to the goal isn’t obvious, so RL can take a little while, but it’s still an easy domain for fast testing</a:t>
            </a:r>
          </a:p>
        </p:txBody>
      </p:sp>
    </p:spTree>
    <p:extLst>
      <p:ext uri="{BB962C8B-B14F-4D97-AF65-F5344CB8AC3E}">
        <p14:creationId xmlns:p14="http://schemas.microsoft.com/office/powerpoint/2010/main" val="1805449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0D2BE-C44E-8172-57AB-480E6AA5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Windy </a:t>
            </a:r>
            <a:r>
              <a:rPr lang="en-US" dirty="0" err="1"/>
              <a:t>Gridworld</a:t>
            </a:r>
            <a:r>
              <a:rPr lang="en-US" dirty="0"/>
              <a:t>: 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E8977-3534-FF66-D07C-FCECC4A18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598437" cy="4823991"/>
          </a:xfrm>
        </p:spPr>
        <p:txBody>
          <a:bodyPr>
            <a:normAutofit/>
          </a:bodyPr>
          <a:lstStyle/>
          <a:p>
            <a:r>
              <a:rPr lang="en-US" dirty="0"/>
              <a:t>“Good” heuristic:</a:t>
            </a:r>
          </a:p>
          <a:p>
            <a:pPr lvl="1"/>
            <a:r>
              <a:rPr lang="en-US" dirty="0"/>
              <a:t>Accounts for wind</a:t>
            </a:r>
          </a:p>
          <a:p>
            <a:pPr lvl="1"/>
            <a:r>
              <a:rPr lang="en-US" dirty="0"/>
              <a:t>Still far from perfect</a:t>
            </a:r>
          </a:p>
          <a:p>
            <a:pPr lvl="1"/>
            <a:endParaRPr lang="en-US" dirty="0"/>
          </a:p>
          <a:p>
            <a:r>
              <a:rPr lang="en-US" dirty="0"/>
              <a:t>“Mediocre” heuristic:</a:t>
            </a:r>
          </a:p>
          <a:p>
            <a:pPr lvl="1"/>
            <a:r>
              <a:rPr lang="en-US" dirty="0"/>
              <a:t>Doesn’t account for wind, just relative position from goal</a:t>
            </a:r>
          </a:p>
          <a:p>
            <a:pPr lvl="1"/>
            <a:endParaRPr lang="en-US" dirty="0"/>
          </a:p>
          <a:p>
            <a:r>
              <a:rPr lang="en-US" dirty="0"/>
              <a:t>“Bad” heuristic:</a:t>
            </a:r>
          </a:p>
          <a:p>
            <a:pPr lvl="1"/>
            <a:r>
              <a:rPr lang="en-US" dirty="0"/>
              <a:t>Move away from goal</a:t>
            </a:r>
          </a:p>
          <a:p>
            <a:pPr lvl="1"/>
            <a:endParaRPr lang="en-US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CEB264E-2CFA-F332-C8E8-7A6518093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837" y="1230442"/>
            <a:ext cx="5943600" cy="1946275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73613632-123A-3F01-C141-BD90B5F4B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837" y="3248608"/>
            <a:ext cx="5943600" cy="1949450"/>
          </a:xfrm>
          <a:prstGeom prst="rect">
            <a:avLst/>
          </a:prstGeom>
        </p:spPr>
      </p:pic>
      <p:pic>
        <p:nvPicPr>
          <p:cNvPr id="6" name="Picture 5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B68DD1F5-1691-9970-5019-436EA7DD1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560" y="4521560"/>
            <a:ext cx="3968620" cy="221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6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567F6-0462-F57F-1616-90FECEA0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Windy </a:t>
            </a:r>
            <a:r>
              <a:rPr lang="en-US" dirty="0" err="1"/>
              <a:t>Gridworld</a:t>
            </a:r>
            <a:r>
              <a:rPr lang="en-US" dirty="0"/>
              <a:t>: 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099A03-E221-6C1D-A7BC-5E5B657B0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16" y="2014211"/>
            <a:ext cx="11637077" cy="47038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448499-C0AB-9A5D-AD37-DE5DF8621421}"/>
              </a:ext>
            </a:extLst>
          </p:cNvPr>
          <p:cNvSpPr txBox="1">
            <a:spLocks/>
          </p:cNvSpPr>
          <p:nvPr/>
        </p:nvSpPr>
        <p:spPr>
          <a:xfrm>
            <a:off x="763554" y="1415463"/>
            <a:ext cx="10515600" cy="72474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Good heuristic helps, but not as much info/episode since episodes term early</a:t>
            </a:r>
          </a:p>
          <a:p>
            <a:pPr lvl="1"/>
            <a:r>
              <a:rPr lang="en-US" dirty="0"/>
              <a:t>Mediocre heuristic is worse than adversarial here</a:t>
            </a:r>
          </a:p>
          <a:p>
            <a:pPr lvl="2"/>
            <a:r>
              <a:rPr lang="en-US" dirty="0"/>
              <a:t>Environment is hostile to “close but not quite” due to wind near goal</a:t>
            </a:r>
          </a:p>
        </p:txBody>
      </p:sp>
    </p:spTree>
    <p:extLst>
      <p:ext uri="{BB962C8B-B14F-4D97-AF65-F5344CB8AC3E}">
        <p14:creationId xmlns:p14="http://schemas.microsoft.com/office/powerpoint/2010/main" val="2718076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00A94-2A74-7A64-2999-A2EEB3DB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Rooms: Domain</a:t>
            </a:r>
          </a:p>
        </p:txBody>
      </p:sp>
      <p:pic>
        <p:nvPicPr>
          <p:cNvPr id="5" name="Content Placeholder 4" descr="A crossword puzzle with a star&#10;&#10;Description automatically generated">
            <a:extLst>
              <a:ext uri="{FF2B5EF4-FFF2-40B4-BE49-F238E27FC236}">
                <a16:creationId xmlns:a16="http://schemas.microsoft.com/office/drawing/2014/main" id="{16D9EAD8-E211-E091-7B9F-19A1FCD7D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249" y="1333265"/>
            <a:ext cx="4744101" cy="4750294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02CA21-0C05-4E75-2A87-BD6F8A899957}"/>
              </a:ext>
            </a:extLst>
          </p:cNvPr>
          <p:cNvSpPr txBox="1">
            <a:spLocks/>
          </p:cNvSpPr>
          <p:nvPr/>
        </p:nvSpPr>
        <p:spPr>
          <a:xfrm>
            <a:off x="838200" y="1668884"/>
            <a:ext cx="4598437" cy="4823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Easy for people to see what to do, hard for RL agent</a:t>
            </a:r>
          </a:p>
          <a:p>
            <a:r>
              <a:rPr lang="en-US" dirty="0"/>
              <a:t>Long walls with small hallways make exploration challenging- lots of ways to get stuck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AC074-2C6E-259F-3469-DEF9BD7F7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Rooms: 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BB87B-F4CA-C565-B9A1-5C74038AF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“Good” heuristic: move towards next hallway to the goal (too many lines to reprint code here)</a:t>
            </a:r>
          </a:p>
          <a:p>
            <a:pPr lvl="1"/>
            <a:r>
              <a:rPr lang="en-US" dirty="0"/>
              <a:t>I.e. if in up-left room, move to (4,8), if in down-right room, move to (8,4), etc.</a:t>
            </a:r>
          </a:p>
          <a:p>
            <a:r>
              <a:rPr lang="en-US" dirty="0"/>
              <a:t>“Mediocre” heuristic: move up and right</a:t>
            </a:r>
          </a:p>
          <a:p>
            <a:pPr lvl="1"/>
            <a:r>
              <a:rPr lang="en-US" dirty="0"/>
              <a:t>Blindly moves towards goal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“Bad” heuristic: move down/left</a:t>
            </a:r>
          </a:p>
          <a:p>
            <a:pPr lvl="1"/>
            <a:r>
              <a:rPr lang="en-US" dirty="0"/>
              <a:t>Moves away from goal</a:t>
            </a:r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C753E2DE-765A-095F-A636-6EB3DF82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3836385"/>
            <a:ext cx="5943600" cy="1163320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918CA5D3-5B05-7E6E-A565-A1684995E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498" y="5156583"/>
            <a:ext cx="4663751" cy="149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35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35A20-DD5C-3443-B2D4-87FF41A5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Rooms: 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57863E-4757-D04B-FBE7-261E15ECB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955" y="1509535"/>
            <a:ext cx="9340788" cy="487260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11BCC6-BD46-9348-515B-37130A6A1D0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2427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Good Heuristic helped a lot</a:t>
            </a:r>
          </a:p>
          <a:p>
            <a:r>
              <a:rPr lang="en-US" dirty="0"/>
              <a:t>Mediocre heuristic still helped here</a:t>
            </a:r>
          </a:p>
          <a:p>
            <a:r>
              <a:rPr lang="en-US" dirty="0"/>
              <a:t>Bad heuristic actively impeded progress</a:t>
            </a:r>
          </a:p>
          <a:p>
            <a:r>
              <a:rPr lang="en-US" dirty="0"/>
              <a:t>More sparse reward signal than windy </a:t>
            </a:r>
            <a:r>
              <a:rPr lang="en-US" dirty="0" err="1"/>
              <a:t>gridworld</a:t>
            </a:r>
            <a:r>
              <a:rPr lang="en-US" dirty="0"/>
              <a:t> =&gt; heuristics had more impact by “guiding” exploration</a:t>
            </a:r>
          </a:p>
          <a:p>
            <a:r>
              <a:rPr lang="en-US" dirty="0"/>
              <a:t>Less complex transitions around goal =&gt; mediocre heuristic being imprecise was less of an issue</a:t>
            </a:r>
          </a:p>
        </p:txBody>
      </p:sp>
    </p:spTree>
    <p:extLst>
      <p:ext uri="{BB962C8B-B14F-4D97-AF65-F5344CB8AC3E}">
        <p14:creationId xmlns:p14="http://schemas.microsoft.com/office/powerpoint/2010/main" val="2097700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2BACB-F3BE-77A1-9489-290CE7CFC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0BFEB-D888-C5FF-F721-F0384FFF1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on DQN environments</a:t>
            </a:r>
          </a:p>
          <a:p>
            <a:pPr lvl="1"/>
            <a:r>
              <a:rPr lang="en-US" dirty="0"/>
              <a:t>“What you’ll often see is a notable improvement in the tabular space translate to a small marginal improvement in deep RL” – Prof. Lawson</a:t>
            </a:r>
          </a:p>
          <a:p>
            <a:r>
              <a:rPr lang="en-US" dirty="0"/>
              <a:t>Currently running back at home!</a:t>
            </a:r>
          </a:p>
          <a:p>
            <a:r>
              <a:rPr lang="en-US" dirty="0"/>
              <a:t>Early results from Cart-Pole:</a:t>
            </a:r>
          </a:p>
          <a:p>
            <a:pPr lvl="1"/>
            <a:r>
              <a:rPr lang="en-US" dirty="0"/>
              <a:t>I ran on #steps, not #episodes, so</a:t>
            </a:r>
            <a:br>
              <a:rPr lang="en-US" dirty="0"/>
            </a:br>
            <a:r>
              <a:rPr lang="en-US" dirty="0"/>
              <a:t>the different heuristics ran for different</a:t>
            </a:r>
            <a:br>
              <a:rPr lang="en-US" dirty="0"/>
            </a:br>
            <a:r>
              <a:rPr lang="en-US" dirty="0"/>
              <a:t>#s of episodes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ADEE0-C164-5FF4-B96D-F533198A7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525" y="2993628"/>
            <a:ext cx="4536622" cy="331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92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599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Heuristics in RL</vt:lpstr>
      <vt:lpstr>Concept: apply “advice” to RL agent</vt:lpstr>
      <vt:lpstr>Methods – heuristic policy</vt:lpstr>
      <vt:lpstr>Methods- following the heuristic</vt:lpstr>
      <vt:lpstr>Methods- Adversarial Heuristics</vt:lpstr>
      <vt:lpstr>Windy Gridworld: Domain</vt:lpstr>
      <vt:lpstr>Windy Gridworld: Heuristics</vt:lpstr>
      <vt:lpstr>Windy Gridworld: Results</vt:lpstr>
      <vt:lpstr>Four Rooms: Domain</vt:lpstr>
      <vt:lpstr>Four Rooms: Heuristics</vt:lpstr>
      <vt:lpstr>Four Rooms: Results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Heuristics in RL</dc:title>
  <dc:creator>Bennett Brain</dc:creator>
  <cp:lastModifiedBy>Bennett Brain</cp:lastModifiedBy>
  <cp:revision>2</cp:revision>
  <dcterms:created xsi:type="dcterms:W3CDTF">2024-04-16T21:06:37Z</dcterms:created>
  <dcterms:modified xsi:type="dcterms:W3CDTF">2024-04-16T21:37:35Z</dcterms:modified>
</cp:coreProperties>
</file>